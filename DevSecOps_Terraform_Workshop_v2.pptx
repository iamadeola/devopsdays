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7" r:id="rId2"/>
    <p:sldId id="257" r:id="rId3"/>
    <p:sldId id="258" r:id="rId4"/>
    <p:sldId id="259" r:id="rId5"/>
    <p:sldId id="260" r:id="rId6"/>
    <p:sldId id="276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5" r:id="rId19"/>
    <p:sldId id="268" r:id="rId20"/>
    <p:sldId id="269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5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85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B7718-AECA-86BD-9C60-FD47B5B8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D1B8B-57CD-310F-5150-5F0D43CFC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CA630-5BF9-D71C-A799-FF494ADDD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E260F-32F7-A91A-C63D-3ADF4FC0F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54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CEAA2-F582-80BB-C8A7-658248C6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D3648-CCEF-6208-FC2B-8AF69899E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8BA7C-776E-B5E1-0171-426157171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E501A-A260-2A46-9422-D2F6D67814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06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3145B-F235-DDE2-AC5A-F73B6961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095CC7-92DB-A405-329D-84B89CD844F1}"/>
              </a:ext>
            </a:extLst>
          </p:cNvPr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7CC632-4602-84C9-EB70-2D1F40DAD3E0}"/>
              </a:ext>
            </a:extLst>
          </p:cNvPr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53D8E"/>
          </a:solidFill>
          <a:ln w="12700">
            <a:solidFill>
              <a:srgbClr val="253D8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70ABAC3-713B-AF3F-440B-EFC38D83B23B}"/>
              </a:ext>
            </a:extLst>
          </p:cNvPr>
          <p:cNvSpPr/>
          <p:nvPr/>
        </p:nvSpPr>
        <p:spPr>
          <a:xfrm>
            <a:off x="777240" y="2834640"/>
            <a:ext cx="2926080" cy="45720"/>
          </a:xfrm>
          <a:prstGeom prst="rect">
            <a:avLst/>
          </a:prstGeom>
          <a:solidFill>
            <a:srgbClr val="C8E840"/>
          </a:solidFill>
          <a:ln w="12700">
            <a:solidFill>
              <a:srgbClr val="C8E8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914F6C2-A2E7-6C01-D2DC-42FB7D48A6C4}"/>
              </a:ext>
            </a:extLst>
          </p:cNvPr>
          <p:cNvSpPr/>
          <p:nvPr/>
        </p:nvSpPr>
        <p:spPr>
          <a:xfrm>
            <a:off x="777240" y="41148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DD7B4C-4D4B-E2D0-9751-F2A59BAFACE2}"/>
              </a:ext>
            </a:extLst>
          </p:cNvPr>
          <p:cNvSpPr/>
          <p:nvPr/>
        </p:nvSpPr>
        <p:spPr>
          <a:xfrm>
            <a:off x="77724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FFFFFF"/>
                </a:solidFill>
              </a:rPr>
              <a:t>WORKSHOP</a:t>
            </a:r>
            <a:endParaRPr lang="en-US" sz="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48EBE1-6849-9CEA-7964-D73824E74F04}"/>
              </a:ext>
            </a:extLst>
          </p:cNvPr>
          <p:cNvSpPr/>
          <p:nvPr/>
        </p:nvSpPr>
        <p:spPr>
          <a:xfrm>
            <a:off x="777240" y="8229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'DevSecOps' Angle</a:t>
            </a:r>
            <a:endParaRPr lang="en-US" sz="4200" dirty="0">
              <a:solidFill>
                <a:schemeClr val="tx2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5CE436A-CB6B-4370-220B-2AF2A13C27FA}"/>
              </a:ext>
            </a:extLst>
          </p:cNvPr>
          <p:cNvSpPr/>
          <p:nvPr/>
        </p:nvSpPr>
        <p:spPr>
          <a:xfrm>
            <a:off x="777240" y="16002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&amp; Compliance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8995D22-C3FA-1D25-02B5-72A33D8C8691}"/>
              </a:ext>
            </a:extLst>
          </p:cNvPr>
          <p:cNvSpPr/>
          <p:nvPr/>
        </p:nvSpPr>
        <p:spPr>
          <a:xfrm>
            <a:off x="777240" y="213055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E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Terraform</a:t>
            </a:r>
            <a:endParaRPr lang="en-US" sz="30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C40AA564-A165-2B8F-AD57-86E51101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57200"/>
            <a:ext cx="1920240" cy="192024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5DBAD6A4-2601-38F1-2A8C-5BF14E924EC9}"/>
              </a:ext>
            </a:extLst>
          </p:cNvPr>
          <p:cNvSpPr/>
          <p:nvPr/>
        </p:nvSpPr>
        <p:spPr>
          <a:xfrm>
            <a:off x="777240" y="45354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DevOpsDays Sibiu  ·  Infrastructure as Code  ·  Security Automation</a:t>
            </a:r>
            <a:endParaRPr lang="en-US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083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4663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132320" y="201168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7132320" y="201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6E"/>
                </a:solidFill>
              </a:rPr>
              <a:t>FOUNDATION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DevSecOps?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868680"/>
            <a:ext cx="8046720" cy="960120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5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731520" y="896112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"DevSecOps integrates security practices directly into the DevOps workflow — making security everyone's responsibility, not an afterthought."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2651760" cy="2606040"/>
          </a:xfrm>
          <a:prstGeom prst="rect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2651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Shape 9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21284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85800" y="276148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write code and build features — fast iteration, CI/CD pipelines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383280" y="2011680"/>
            <a:ext cx="2651760" cy="2606040"/>
          </a:xfrm>
          <a:prstGeom prst="rect">
            <a:avLst/>
          </a:prstGeom>
          <a:solidFill>
            <a:srgbClr val="EEF3FF"/>
          </a:solidFill>
          <a:ln w="12700">
            <a:solidFill>
              <a:srgbClr val="D0F2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3"/>
          <p:cNvSpPr/>
          <p:nvPr/>
        </p:nvSpPr>
        <p:spPr>
          <a:xfrm>
            <a:off x="3383280" y="2011680"/>
            <a:ext cx="2651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4"/>
          <p:cNvSpPr/>
          <p:nvPr/>
        </p:nvSpPr>
        <p:spPr>
          <a:xfrm>
            <a:off x="3520440" y="2148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221284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133088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3520440" y="276148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manages deployment, infrastructure, and system reliability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17920" y="2011680"/>
            <a:ext cx="2651760" cy="2606040"/>
          </a:xfrm>
          <a:prstGeom prst="rect">
            <a:avLst/>
          </a:prstGeom>
          <a:solidFill>
            <a:srgbClr val="F2FACD"/>
          </a:solidFill>
          <a:ln w="12700">
            <a:solidFill>
              <a:srgbClr val="D0F2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3" name="Shape 18"/>
          <p:cNvSpPr/>
          <p:nvPr/>
        </p:nvSpPr>
        <p:spPr>
          <a:xfrm>
            <a:off x="6217920" y="2011680"/>
            <a:ext cx="2651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19"/>
          <p:cNvSpPr/>
          <p:nvPr/>
        </p:nvSpPr>
        <p:spPr>
          <a:xfrm>
            <a:off x="6355080" y="2148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221284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67728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355080" y="276148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validates, scans, and enforces policies — at every stage, not just the end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3182112" y="3291840"/>
            <a:ext cx="201168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3"/>
          <p:cNvSpPr/>
          <p:nvPr/>
        </p:nvSpPr>
        <p:spPr>
          <a:xfrm>
            <a:off x="6016752" y="3291840"/>
            <a:ext cx="201168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4663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132320" y="201168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7132320" y="201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6E"/>
                </a:solidFill>
              </a:rPr>
              <a:t>FOUNDATION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 vs. The New Way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868680"/>
            <a:ext cx="3840480" cy="3977640"/>
          </a:xfrm>
          <a:prstGeom prst="rect">
            <a:avLst/>
          </a:prstGeom>
          <a:solidFill>
            <a:srgbClr val="FFF5F5"/>
          </a:solidFill>
          <a:ln w="19050">
            <a:solidFill>
              <a:srgbClr val="FFBBB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5"/>
          <p:cNvSpPr/>
          <p:nvPr/>
        </p:nvSpPr>
        <p:spPr>
          <a:xfrm>
            <a:off x="548640" y="868680"/>
            <a:ext cx="3840480" cy="402336"/>
          </a:xfrm>
          <a:prstGeom prst="rect">
            <a:avLst/>
          </a:prstGeom>
          <a:solidFill>
            <a:srgbClr val="FFBBBB"/>
          </a:solidFill>
          <a:ln w="12700">
            <a:solidFill>
              <a:srgbClr val="FFBB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658368" y="886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OLD WAY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8368" y="1463040"/>
            <a:ext cx="237744" cy="237744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658368" y="1463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builds feature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05840" y="1673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written with no security checks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2286000"/>
            <a:ext cx="237744" cy="237744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2"/>
          <p:cNvSpPr/>
          <p:nvPr/>
        </p:nvSpPr>
        <p:spPr>
          <a:xfrm>
            <a:off x="658368" y="22860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584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deploys it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0584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set up manually in the console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" y="3108960"/>
            <a:ext cx="237744" cy="237744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6"/>
          <p:cNvSpPr/>
          <p:nvPr/>
        </p:nvSpPr>
        <p:spPr>
          <a:xfrm>
            <a:off x="658368" y="31089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05840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reviews later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05840" y="3319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happens weeks after deployment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" y="3931920"/>
            <a:ext cx="237744" cy="237744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0"/>
          <p:cNvSpPr/>
          <p:nvPr/>
        </p:nvSpPr>
        <p:spPr>
          <a:xfrm>
            <a:off x="658368" y="3931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584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discovered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005840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found — too late, too expensive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868680"/>
            <a:ext cx="3840480" cy="3977640"/>
          </a:xfrm>
          <a:prstGeom prst="rect">
            <a:avLst/>
          </a:prstGeom>
          <a:solidFill>
            <a:srgbClr val="D0F2EE"/>
          </a:solidFill>
          <a:ln w="1905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7" name="Shape 24"/>
          <p:cNvSpPr/>
          <p:nvPr/>
        </p:nvSpPr>
        <p:spPr>
          <a:xfrm>
            <a:off x="4754880" y="868680"/>
            <a:ext cx="384048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5"/>
          <p:cNvSpPr/>
          <p:nvPr/>
        </p:nvSpPr>
        <p:spPr>
          <a:xfrm>
            <a:off x="4864608" y="886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NEW WAY (DevSecOps)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864608" y="1463040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7"/>
          <p:cNvSpPr/>
          <p:nvPr/>
        </p:nvSpPr>
        <p:spPr>
          <a:xfrm>
            <a:off x="4864608" y="1463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212080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from Day 1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212080" y="1673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written as code before any infrastructure is built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864608" y="2286000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1"/>
          <p:cNvSpPr/>
          <p:nvPr/>
        </p:nvSpPr>
        <p:spPr>
          <a:xfrm>
            <a:off x="4864608" y="22860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21208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scanning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21208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checked — misconfigs caught instantly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864608" y="3108960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5"/>
          <p:cNvSpPr/>
          <p:nvPr/>
        </p:nvSpPr>
        <p:spPr>
          <a:xfrm>
            <a:off x="4864608" y="31089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212080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enforces rules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5212080" y="3319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block insecure configs at deploy time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864608" y="3931920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39"/>
          <p:cNvSpPr/>
          <p:nvPr/>
        </p:nvSpPr>
        <p:spPr>
          <a:xfrm>
            <a:off x="4864608" y="3931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21208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compliance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5212080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detected and auto-remediated — always in a known state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253D8E"/>
          </a:solidFill>
          <a:ln w="12700">
            <a:solidFill>
              <a:srgbClr val="253D8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7132320" y="201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6E"/>
                </a:solidFill>
              </a:rPr>
              <a:t>FOUNDATION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4747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Security Belongs in the Pipeline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85800" y="1463040"/>
            <a:ext cx="2560320" cy="2194560"/>
          </a:xfrm>
          <a:prstGeom prst="rect">
            <a:avLst/>
          </a:prstGeom>
          <a:solidFill>
            <a:srgbClr val="253D8E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6"/>
          <p:cNvSpPr/>
          <p:nvPr/>
        </p:nvSpPr>
        <p:spPr>
          <a:xfrm>
            <a:off x="685800" y="1463040"/>
            <a:ext cx="256032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727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9933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E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$4.45M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795528" y="274320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data breach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(IBM, 2023)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74720" y="1463040"/>
            <a:ext cx="2560320" cy="2194560"/>
          </a:xfrm>
          <a:prstGeom prst="rect">
            <a:avLst/>
          </a:prstGeom>
          <a:solidFill>
            <a:srgbClr val="253D8E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0"/>
          <p:cNvSpPr/>
          <p:nvPr/>
        </p:nvSpPr>
        <p:spPr>
          <a:xfrm>
            <a:off x="3474720" y="1463040"/>
            <a:ext cx="256032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157276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19933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E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3584448" y="274320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infrastructure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63640" y="1463040"/>
            <a:ext cx="2560320" cy="2194560"/>
          </a:xfrm>
          <a:prstGeom prst="rect">
            <a:avLst/>
          </a:prstGeom>
          <a:solidFill>
            <a:srgbClr val="253D8E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9" name="Shape 14"/>
          <p:cNvSpPr/>
          <p:nvPr/>
        </p:nvSpPr>
        <p:spPr>
          <a:xfrm>
            <a:off x="6263640" y="1463040"/>
            <a:ext cx="256032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57276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55080" y="19933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E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600" dirty="0"/>
          </a:p>
        </p:txBody>
      </p:sp>
      <p:sp>
        <p:nvSpPr>
          <p:cNvPr id="22" name="Text 16"/>
          <p:cNvSpPr/>
          <p:nvPr/>
        </p:nvSpPr>
        <p:spPr>
          <a:xfrm>
            <a:off x="6373368" y="274320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average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a breach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85800" y="3822192"/>
            <a:ext cx="777240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18"/>
          <p:cNvSpPr/>
          <p:nvPr/>
        </p:nvSpPr>
        <p:spPr>
          <a:xfrm>
            <a:off x="868680" y="3849624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a phase at the end — it's a property of the entire system. DevSecOps shifts it left so problems are caught when they're cheapest to fix.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4663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132320" y="201168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7132320" y="201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6E"/>
                </a:solidFill>
              </a:rPr>
              <a:t>FOUNDATION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DevSecOps Works in Practice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1005840" cy="1005840"/>
          </a:xfrm>
          <a:prstGeom prst="ellipse">
            <a:avLst/>
          </a:prstGeom>
          <a:solidFill>
            <a:srgbClr val="1A2E6B"/>
          </a:solidFill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25880"/>
            <a:ext cx="640080" cy="640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54480" y="1618488"/>
            <a:ext cx="64008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6"/>
          <p:cNvSpPr/>
          <p:nvPr/>
        </p:nvSpPr>
        <p:spPr>
          <a:xfrm>
            <a:off x="2066544" y="15361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93776" y="226771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252374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IaC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app code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212848" y="1143000"/>
            <a:ext cx="1005840" cy="1005840"/>
          </a:xfrm>
          <a:prstGeom prst="ellipse">
            <a:avLst/>
          </a:prstGeom>
          <a:solidFill>
            <a:srgbClr val="1A2E6B"/>
          </a:solidFill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728" y="1325880"/>
            <a:ext cx="640080" cy="6400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218688" y="1618488"/>
            <a:ext cx="64008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1"/>
          <p:cNvSpPr/>
          <p:nvPr/>
        </p:nvSpPr>
        <p:spPr>
          <a:xfrm>
            <a:off x="3730752" y="15361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157984" y="226771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2121408" y="252374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877056" y="1143000"/>
            <a:ext cx="1005840" cy="1005840"/>
          </a:xfrm>
          <a:prstGeom prst="ellipse">
            <a:avLst/>
          </a:prstGeom>
          <a:solidFill>
            <a:srgbClr val="1A2E6B"/>
          </a:solidFill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936" y="1325880"/>
            <a:ext cx="640080" cy="6400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882896" y="1618488"/>
            <a:ext cx="64008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16"/>
          <p:cNvSpPr/>
          <p:nvPr/>
        </p:nvSpPr>
        <p:spPr>
          <a:xfrm>
            <a:off x="5394960" y="15361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822192" y="226771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3785616" y="252374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policy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541264" y="1143000"/>
            <a:ext cx="1005840" cy="1005840"/>
          </a:xfrm>
          <a:prstGeom prst="ellipse">
            <a:avLst/>
          </a:prstGeom>
          <a:solidFill>
            <a:srgbClr val="1A2E6B"/>
          </a:solidFill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144" y="1325880"/>
            <a:ext cx="640080" cy="64008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547104" y="1618488"/>
            <a:ext cx="64008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1"/>
          <p:cNvSpPr/>
          <p:nvPr/>
        </p:nvSpPr>
        <p:spPr>
          <a:xfrm>
            <a:off x="7059168" y="15361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486400" y="226771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49824" y="252374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drift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anomalies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205472" y="1143000"/>
            <a:ext cx="1005840" cy="1005840"/>
          </a:xfrm>
          <a:prstGeom prst="ellipse">
            <a:avLst/>
          </a:prstGeom>
          <a:solidFill>
            <a:srgbClr val="1A2E6B"/>
          </a:solidFill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8352" y="1325880"/>
            <a:ext cx="640080" cy="6400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50608" y="226771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7114032" y="252374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alert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48640" y="33375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6" name="Shape 28"/>
          <p:cNvSpPr/>
          <p:nvPr/>
        </p:nvSpPr>
        <p:spPr>
          <a:xfrm>
            <a:off x="548640" y="3337560"/>
            <a:ext cx="45720" cy="1463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29"/>
          <p:cNvSpPr/>
          <p:nvPr/>
        </p:nvSpPr>
        <p:spPr>
          <a:xfrm>
            <a:off x="685800" y="3410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85800" y="373075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issues in development, not production. 10x cheaper to fix early.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3364992" y="33375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40" name="Shape 32"/>
          <p:cNvSpPr/>
          <p:nvPr/>
        </p:nvSpPr>
        <p:spPr>
          <a:xfrm>
            <a:off x="3364992" y="3337560"/>
            <a:ext cx="45720" cy="1463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3"/>
          <p:cNvSpPr/>
          <p:nvPr/>
        </p:nvSpPr>
        <p:spPr>
          <a:xfrm>
            <a:off x="3502152" y="3410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as Code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3502152" y="373075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configs, and infra all live in version control — auditable &amp; repeatable.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6181344" y="33375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44" name="Shape 36"/>
          <p:cNvSpPr/>
          <p:nvPr/>
        </p:nvSpPr>
        <p:spPr>
          <a:xfrm>
            <a:off x="6181344" y="3337560"/>
            <a:ext cx="45720" cy="1463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37"/>
          <p:cNvSpPr/>
          <p:nvPr/>
        </p:nvSpPr>
        <p:spPr>
          <a:xfrm>
            <a:off x="6318504" y="3410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Everything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6318504" y="373075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make mistakes. Automated pipelines enforce rules consistently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AC0DB-D7DE-59F1-D76B-5C50F7358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7D0759-989B-457A-712D-64F7355439AD}"/>
              </a:ext>
            </a:extLst>
          </p:cNvPr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869E44-8A68-69B1-6E99-9E5A806317E0}"/>
              </a:ext>
            </a:extLst>
          </p:cNvPr>
          <p:cNvSpPr/>
          <p:nvPr/>
        </p:nvSpPr>
        <p:spPr>
          <a:xfrm>
            <a:off x="685800" y="292608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A5178E-325C-C102-304F-A3FB4E2D327C}"/>
              </a:ext>
            </a:extLst>
          </p:cNvPr>
          <p:cNvSpPr/>
          <p:nvPr/>
        </p:nvSpPr>
        <p:spPr>
          <a:xfrm>
            <a:off x="685800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</a:rPr>
              <a:t>THE PROBLEM</a:t>
            </a:r>
            <a:endParaRPr lang="en-US" sz="9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8FC9040-155D-6089-08A7-4F5D9731FF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5D597A8-6709-527B-BB17-4C583C7F61B2}"/>
              </a:ext>
            </a:extLst>
          </p:cNvPr>
          <p:cNvSpPr/>
          <p:nvPr/>
        </p:nvSpPr>
        <p:spPr>
          <a:xfrm>
            <a:off x="685800" y="704088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Configuration Drift?</a:t>
            </a:r>
            <a:endParaRPr lang="en-US" sz="3400" dirty="0">
              <a:solidFill>
                <a:schemeClr val="tx2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D86BA35-CC7C-A742-7FE7-59C4E1A8B5D8}"/>
              </a:ext>
            </a:extLst>
          </p:cNvPr>
          <p:cNvSpPr/>
          <p:nvPr/>
        </p:nvSpPr>
        <p:spPr>
          <a:xfrm>
            <a:off x="685800" y="1536192"/>
            <a:ext cx="7772400" cy="914400"/>
          </a:xfrm>
          <a:prstGeom prst="rect">
            <a:avLst/>
          </a:prstGeom>
          <a:solidFill>
            <a:srgbClr val="253D8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462769B-04B9-09A9-FBFB-FB72E092AEF2}"/>
              </a:ext>
            </a:extLst>
          </p:cNvPr>
          <p:cNvSpPr/>
          <p:nvPr/>
        </p:nvSpPr>
        <p:spPr>
          <a:xfrm>
            <a:off x="868680" y="1572768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"Configuration Drift occurs when the actual state of your infrastructure no longer matches your intended, documented state — usually caused by untracked manual changes."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6E98F76-8F6E-752E-CC66-470F956D245A}"/>
              </a:ext>
            </a:extLst>
          </p:cNvPr>
          <p:cNvSpPr/>
          <p:nvPr/>
        </p:nvSpPr>
        <p:spPr>
          <a:xfrm>
            <a:off x="685800" y="25968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Scenario:</a:t>
            </a: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F17FDCF-1546-B7C9-1D40-D4DC5C290F58}"/>
              </a:ext>
            </a:extLst>
          </p:cNvPr>
          <p:cNvSpPr/>
          <p:nvPr/>
        </p:nvSpPr>
        <p:spPr>
          <a:xfrm>
            <a:off x="685800" y="2999232"/>
            <a:ext cx="219456" cy="219456"/>
          </a:xfrm>
          <a:prstGeom prst="ellipse">
            <a:avLst/>
          </a:prstGeom>
          <a:solidFill>
            <a:srgbClr val="253D8E"/>
          </a:solidFill>
          <a:ln w="1270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F87425C-6D7A-19CA-4150-44E826BA83FC}"/>
              </a:ext>
            </a:extLst>
          </p:cNvPr>
          <p:cNvSpPr/>
          <p:nvPr/>
        </p:nvSpPr>
        <p:spPr>
          <a:xfrm>
            <a:off x="685800" y="2999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646F491-CD1B-6745-8F12-E957C054B23A}"/>
              </a:ext>
            </a:extLst>
          </p:cNvPr>
          <p:cNvSpPr/>
          <p:nvPr/>
        </p:nvSpPr>
        <p:spPr>
          <a:xfrm>
            <a:off x="1014984" y="29443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Terraform code defines a secure EC2 instance with no public access</a:t>
            </a:r>
            <a:endParaRPr lang="en-US" sz="12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D3F65BF-6EAA-3003-9F16-8EE1D13118D1}"/>
              </a:ext>
            </a:extLst>
          </p:cNvPr>
          <p:cNvSpPr/>
          <p:nvPr/>
        </p:nvSpPr>
        <p:spPr>
          <a:xfrm>
            <a:off x="685800" y="3392424"/>
            <a:ext cx="219456" cy="219456"/>
          </a:xfrm>
          <a:prstGeom prst="ellipse">
            <a:avLst/>
          </a:prstGeom>
          <a:solidFill>
            <a:srgbClr val="253D8E"/>
          </a:solidFill>
          <a:ln w="1270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FC6717F-814A-6941-6306-5659EFC1E4D4}"/>
              </a:ext>
            </a:extLst>
          </p:cNvPr>
          <p:cNvSpPr/>
          <p:nvPr/>
        </p:nvSpPr>
        <p:spPr>
          <a:xfrm>
            <a:off x="685800" y="33924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17F3744-32FE-9F1B-527C-7C9A2BE43EEC}"/>
              </a:ext>
            </a:extLst>
          </p:cNvPr>
          <p:cNvSpPr/>
          <p:nvPr/>
        </p:nvSpPr>
        <p:spPr>
          <a:xfrm>
            <a:off x="1014984" y="3337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logs into the AWS Console at 2am to 'quickly fix' an issue</a:t>
            </a:r>
            <a:endParaRPr lang="en-US" sz="12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7ACE6BB-8797-4988-7F02-A44D23D7C7A2}"/>
              </a:ext>
            </a:extLst>
          </p:cNvPr>
          <p:cNvSpPr/>
          <p:nvPr/>
        </p:nvSpPr>
        <p:spPr>
          <a:xfrm>
            <a:off x="685800" y="3785616"/>
            <a:ext cx="219456" cy="219456"/>
          </a:xfrm>
          <a:prstGeom prst="ellipse">
            <a:avLst/>
          </a:prstGeom>
          <a:solidFill>
            <a:srgbClr val="253D8E"/>
          </a:solidFill>
          <a:ln w="1270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6C46B15-F2C3-14B2-647E-A60474EF3A59}"/>
              </a:ext>
            </a:extLst>
          </p:cNvPr>
          <p:cNvSpPr/>
          <p:nvPr/>
        </p:nvSpPr>
        <p:spPr>
          <a:xfrm>
            <a:off x="685800" y="37856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1BF636E-F420-3304-FAF1-8D0C96CA4975}"/>
              </a:ext>
            </a:extLst>
          </p:cNvPr>
          <p:cNvSpPr/>
          <p:nvPr/>
        </p:nvSpPr>
        <p:spPr>
          <a:xfrm>
            <a:off x="1014984" y="37307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open port 22 (SSH) to 0.0.0.0/0 — the entire internet</a:t>
            </a:r>
            <a:endParaRPr lang="en-US" sz="12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CAE4881-99C0-B9AB-68AD-B45251EF73F9}"/>
              </a:ext>
            </a:extLst>
          </p:cNvPr>
          <p:cNvSpPr/>
          <p:nvPr/>
        </p:nvSpPr>
        <p:spPr>
          <a:xfrm>
            <a:off x="685800" y="4178808"/>
            <a:ext cx="219456" cy="219456"/>
          </a:xfrm>
          <a:prstGeom prst="ellipse">
            <a:avLst/>
          </a:prstGeom>
          <a:solidFill>
            <a:srgbClr val="253D8E"/>
          </a:solidFill>
          <a:ln w="1270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0A0DC76-E0D9-7290-718E-50117359A378}"/>
              </a:ext>
            </a:extLst>
          </p:cNvPr>
          <p:cNvSpPr/>
          <p:nvPr/>
        </p:nvSpPr>
        <p:spPr>
          <a:xfrm>
            <a:off x="685800" y="41788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008387C-F207-49FB-19D1-8DECFB3943BC}"/>
              </a:ext>
            </a:extLst>
          </p:cNvPr>
          <p:cNvSpPr/>
          <p:nvPr/>
        </p:nvSpPr>
        <p:spPr>
          <a:xfrm>
            <a:off x="1014984" y="41239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forget to close it. Terraform still shows the instance as 'compliant'</a:t>
            </a:r>
            <a:endParaRPr lang="en-US" sz="12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7D0DCC2A-CB50-8980-3118-2D67E2D386E6}"/>
              </a:ext>
            </a:extLst>
          </p:cNvPr>
          <p:cNvSpPr/>
          <p:nvPr/>
        </p:nvSpPr>
        <p:spPr>
          <a:xfrm>
            <a:off x="685800" y="4572000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7527046-FE76-D091-5E57-F5F6C38EC6B1}"/>
              </a:ext>
            </a:extLst>
          </p:cNvPr>
          <p:cNvSpPr/>
          <p:nvPr/>
        </p:nvSpPr>
        <p:spPr>
          <a:xfrm>
            <a:off x="685800" y="45720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32E8669-5D6B-A001-62D8-DFC6F550788D}"/>
              </a:ext>
            </a:extLst>
          </p:cNvPr>
          <p:cNvSpPr/>
          <p:nvPr/>
        </p:nvSpPr>
        <p:spPr>
          <a:xfrm>
            <a:off x="1014984" y="45171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weeks later: breach. Attacker exploited the open port.</a:t>
            </a:r>
            <a:endParaRPr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53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4663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132320" y="201168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7132320" y="201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6E"/>
                </a:solidFill>
              </a:rPr>
              <a:t>THE PROBLEM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Drift Kills Security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914400"/>
            <a:ext cx="4023360" cy="1920240"/>
          </a:xfrm>
          <a:prstGeom prst="rect">
            <a:avLst/>
          </a:prstGeom>
          <a:solidFill>
            <a:srgbClr val="FFF5F5"/>
          </a:solidFill>
          <a:ln w="12700">
            <a:solidFill>
              <a:srgbClr val="D0F2E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5"/>
          <p:cNvSpPr/>
          <p:nvPr/>
        </p:nvSpPr>
        <p:spPr>
          <a:xfrm>
            <a:off x="548640" y="914400"/>
            <a:ext cx="45720" cy="1920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6"/>
          <p:cNvSpPr/>
          <p:nvPr/>
        </p:nvSpPr>
        <p:spPr>
          <a:xfrm>
            <a:off x="685800" y="10515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1155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Attack Surface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85800" y="150876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drifted resource is an unknown vulnerability. You can't protect what you don't know about. Attackers scan continuously — your team doesn't.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846320" y="914400"/>
            <a:ext cx="4023360" cy="1920240"/>
          </a:xfrm>
          <a:prstGeom prst="rect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0"/>
          <p:cNvSpPr/>
          <p:nvPr/>
        </p:nvSpPr>
        <p:spPr>
          <a:xfrm>
            <a:off x="4846320" y="914400"/>
            <a:ext cx="45720" cy="1920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1"/>
          <p:cNvSpPr/>
          <p:nvPr/>
        </p:nvSpPr>
        <p:spPr>
          <a:xfrm>
            <a:off x="4983480" y="10515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11155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3212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Violations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83480" y="150876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SOC 2, ISO 27001 — all require documented, auditable infrastructure. Drift breaks your audit trail and can trigger heavy fines.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4023360" cy="1920240"/>
          </a:xfrm>
          <a:prstGeom prst="rect">
            <a:avLst/>
          </a:prstGeom>
          <a:solidFill>
            <a:srgbClr val="FFF5F5"/>
          </a:solidFill>
          <a:ln w="12700">
            <a:solidFill>
              <a:srgbClr val="D0F2E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5"/>
          <p:cNvSpPr/>
          <p:nvPr/>
        </p:nvSpPr>
        <p:spPr>
          <a:xfrm>
            <a:off x="548640" y="3017520"/>
            <a:ext cx="45720" cy="1920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6"/>
          <p:cNvSpPr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21868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1821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Failure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85800" y="361188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breach happens, you need to know your baseline. Drifted infra means you don't know what 'normal' looks like, making forensics impossible.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846320" y="3017520"/>
            <a:ext cx="4023360" cy="1920240"/>
          </a:xfrm>
          <a:prstGeom prst="rect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6" name="Shape 20"/>
          <p:cNvSpPr/>
          <p:nvPr/>
        </p:nvSpPr>
        <p:spPr>
          <a:xfrm>
            <a:off x="4846320" y="3017520"/>
            <a:ext cx="45720" cy="1920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hape 21"/>
          <p:cNvSpPr/>
          <p:nvPr/>
        </p:nvSpPr>
        <p:spPr>
          <a:xfrm>
            <a:off x="4983480" y="31546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3218688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32120" y="31821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Servers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983480" y="361188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changes accumulate. Eventually no one knows how the system actually works. Reproducing or recovering the environment becomes a weeks-long project.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685800" y="27432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685800" y="274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</a:rPr>
              <a:t>THE ANSWER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6858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as a Governance Engine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138988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E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is your Source of Truth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190195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doesn't just provision infrastructure — it defines what infrastructure SHOULD look like and continuously enforces that definition.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85800" y="2633472"/>
            <a:ext cx="2578608" cy="1627632"/>
          </a:xfrm>
          <a:prstGeom prst="rect">
            <a:avLst/>
          </a:prstGeom>
          <a:solidFill>
            <a:srgbClr val="253D8E"/>
          </a:solidFill>
          <a:ln w="1016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Shape 8"/>
          <p:cNvSpPr/>
          <p:nvPr/>
        </p:nvSpPr>
        <p:spPr>
          <a:xfrm>
            <a:off x="685800" y="2633472"/>
            <a:ext cx="257860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72491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07592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" y="318211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 block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configs before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ever deployed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74720" y="2633472"/>
            <a:ext cx="2578608" cy="1627632"/>
          </a:xfrm>
          <a:prstGeom prst="rect">
            <a:avLst/>
          </a:prstGeom>
          <a:solidFill>
            <a:srgbClr val="253D8E"/>
          </a:solidFill>
          <a:ln w="1016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2"/>
          <p:cNvSpPr/>
          <p:nvPr/>
        </p:nvSpPr>
        <p:spPr>
          <a:xfrm>
            <a:off x="3474720" y="2633472"/>
            <a:ext cx="257860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72491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96512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611880" y="318211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reveals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between reality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desired state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2633472"/>
            <a:ext cx="2578608" cy="1627632"/>
          </a:xfrm>
          <a:prstGeom prst="rect">
            <a:avLst/>
          </a:prstGeom>
          <a:solidFill>
            <a:srgbClr val="253D8E"/>
          </a:solidFill>
          <a:ln w="1016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6"/>
          <p:cNvSpPr/>
          <p:nvPr/>
        </p:nvSpPr>
        <p:spPr>
          <a:xfrm>
            <a:off x="6263640" y="2633472"/>
            <a:ext cx="257860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72491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85432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0" y="318211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restores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state — 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can't win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85800" y="4526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workshop covers all three — with hands-on exercises.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4663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132320" y="201168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7132320" y="201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6E"/>
                </a:solidFill>
              </a:rPr>
              <a:t>PILLAR 1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Secure-by-Default Modules &amp; Validation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841248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Terraform modules that make it impossible to deploy insecure infrastructure.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234440"/>
            <a:ext cx="4114800" cy="331012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658368" y="1307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secure-ec2/main.tf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8368" y="160020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" y="182422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"allowed_ports" {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58368" y="204825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list(number)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8368" y="227228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" y="249631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 {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8368" y="272034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 = !contains(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8368" y="294436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var.allowed_ports, 22)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8368" y="31683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error_message =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58368" y="339242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"SSH port 22 is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8368" y="361645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not permitted."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8368" y="384048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8368" y="406450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892040" y="1234440"/>
            <a:ext cx="3703320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3" name="Shape 20"/>
          <p:cNvSpPr/>
          <p:nvPr/>
        </p:nvSpPr>
        <p:spPr>
          <a:xfrm>
            <a:off x="4892040" y="1234440"/>
            <a:ext cx="45720" cy="10149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1"/>
          <p:cNvSpPr/>
          <p:nvPr/>
        </p:nvSpPr>
        <p:spPr>
          <a:xfrm>
            <a:off x="5010912" y="1353312"/>
            <a:ext cx="365760" cy="365760"/>
          </a:xfrm>
          <a:prstGeom prst="ellipse">
            <a:avLst/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17320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68112" y="1377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Blocks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010912" y="1645920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Terraform's built-in validation runs before ANY resource is created. Bad config = immediate error, not a running vulnerability.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892040" y="2340864"/>
            <a:ext cx="3703320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9" name="Shape 25"/>
          <p:cNvSpPr/>
          <p:nvPr/>
        </p:nvSpPr>
        <p:spPr>
          <a:xfrm>
            <a:off x="4892040" y="2340864"/>
            <a:ext cx="45720" cy="10149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6"/>
          <p:cNvSpPr/>
          <p:nvPr/>
        </p:nvSpPr>
        <p:spPr>
          <a:xfrm>
            <a:off x="5010912" y="2459736"/>
            <a:ext cx="365760" cy="365760"/>
          </a:xfrm>
          <a:prstGeom prst="ellipse">
            <a:avLst/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523744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468112" y="2505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Defaults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5010912" y="2752344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ship with secure defaults. Developers must explicitly override them — and that override is visible in code review.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892040" y="3447288"/>
            <a:ext cx="3703320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5" name="Shape 30"/>
          <p:cNvSpPr/>
          <p:nvPr/>
        </p:nvSpPr>
        <p:spPr>
          <a:xfrm>
            <a:off x="4892040" y="3447288"/>
            <a:ext cx="45720" cy="10149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Shape 31"/>
          <p:cNvSpPr/>
          <p:nvPr/>
        </p:nvSpPr>
        <p:spPr>
          <a:xfrm>
            <a:off x="5010912" y="3566160"/>
            <a:ext cx="365760" cy="365760"/>
          </a:xfrm>
          <a:prstGeom prst="ellipse">
            <a:avLst/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630168"/>
            <a:ext cx="237744" cy="23774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468112" y="3603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010912" y="3858768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 live in your repo alongside your app code. They're versioned, reviewed, and audited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4663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132320" y="201168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7132320" y="201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6E"/>
                </a:solidFill>
              </a:rPr>
              <a:t>PILLAR 2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with terraform plan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841248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is your compliance scanner — run it any time to see what's drifted.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188720"/>
            <a:ext cx="1463040" cy="1463040"/>
          </a:xfrm>
          <a:prstGeom prst="ellipse">
            <a:avLst/>
          </a:prstGeom>
          <a:solidFill>
            <a:srgbClr val="F0FAFA"/>
          </a:solidFill>
          <a:ln w="3175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4630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279806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makes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change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AWS Console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011680" y="1911096"/>
            <a:ext cx="612648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8"/>
          <p:cNvSpPr/>
          <p:nvPr/>
        </p:nvSpPr>
        <p:spPr>
          <a:xfrm>
            <a:off x="2505456" y="18288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51760" y="1188720"/>
            <a:ext cx="1463040" cy="1463040"/>
          </a:xfrm>
          <a:prstGeom prst="ellipse">
            <a:avLst/>
          </a:prstGeom>
          <a:solidFill>
            <a:srgbClr val="F0FAFA"/>
          </a:solidFill>
          <a:ln w="317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146304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60320" y="279806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drifts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code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114800" y="1911096"/>
            <a:ext cx="612648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2"/>
          <p:cNvSpPr/>
          <p:nvPr/>
        </p:nvSpPr>
        <p:spPr>
          <a:xfrm>
            <a:off x="4608576" y="18288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188720"/>
            <a:ext cx="1463040" cy="1463040"/>
          </a:xfrm>
          <a:prstGeom prst="ellipse">
            <a:avLst/>
          </a:prstGeom>
          <a:solidFill>
            <a:srgbClr val="F0FAFA"/>
          </a:solidFill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46304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63440" y="279806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17920" y="1911096"/>
            <a:ext cx="612648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16"/>
          <p:cNvSpPr/>
          <p:nvPr/>
        </p:nvSpPr>
        <p:spPr>
          <a:xfrm>
            <a:off x="6711696" y="18288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858000" y="1188720"/>
            <a:ext cx="1463040" cy="1463040"/>
          </a:xfrm>
          <a:prstGeom prst="ellipse">
            <a:avLst/>
          </a:prstGeom>
          <a:solidFill>
            <a:srgbClr val="F0FAFA"/>
          </a:solidFill>
          <a:ln w="317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1463040"/>
            <a:ext cx="640080" cy="640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66560" y="279806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raised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auto-revert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" y="3749040"/>
            <a:ext cx="8046720" cy="11155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0"/>
          <p:cNvSpPr/>
          <p:nvPr/>
        </p:nvSpPr>
        <p:spPr>
          <a:xfrm>
            <a:off x="685800" y="38221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plan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85800" y="4050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 aws_security_group_rule.ssh   CHANGED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85800" y="42793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cidr_blocks: ["0.0.0.0/0"]  →  ["10.0.0.0/8"]   # drift detected!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685800" y="45079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Plan: 0 to add, 1 to change, 0 to destroy.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4663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132320" y="201168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7132320" y="201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6E"/>
                </a:solidFill>
              </a:rPr>
              <a:t>PILLAR 3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Drift-and-Recovery Cycle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841248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lifecycle: simulate, detect, alert, remediate — all with Terraform.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261872"/>
            <a:ext cx="1508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6"/>
          <p:cNvSpPr/>
          <p:nvPr/>
        </p:nvSpPr>
        <p:spPr>
          <a:xfrm>
            <a:off x="548640" y="1261872"/>
            <a:ext cx="150876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548640" y="13533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48640" y="18562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5800" y="2121408"/>
            <a:ext cx="1234440" cy="18288"/>
          </a:xfrm>
          <a:prstGeom prst="rect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0"/>
          <p:cNvSpPr/>
          <p:nvPr/>
        </p:nvSpPr>
        <p:spPr>
          <a:xfrm>
            <a:off x="612648" y="217627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compliant state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" y="2724912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code defines the desired secure configuration. This is your gold standard.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12848" y="1261872"/>
            <a:ext cx="1508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2212848" y="1261872"/>
            <a:ext cx="1508760" cy="4572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4"/>
          <p:cNvSpPr/>
          <p:nvPr/>
        </p:nvSpPr>
        <p:spPr>
          <a:xfrm>
            <a:off x="2212848" y="13533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212848" y="18562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350008" y="2121408"/>
            <a:ext cx="1234440" cy="18288"/>
          </a:xfrm>
          <a:prstGeom prst="rect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7"/>
          <p:cNvSpPr/>
          <p:nvPr/>
        </p:nvSpPr>
        <p:spPr>
          <a:xfrm>
            <a:off x="2276856" y="217627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rogue change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286000" y="2724912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lab: we manually change a security group in the console — bypassing Terraform.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877056" y="1261872"/>
            <a:ext cx="1508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3" name="Shape 20"/>
          <p:cNvSpPr/>
          <p:nvPr/>
        </p:nvSpPr>
        <p:spPr>
          <a:xfrm>
            <a:off x="3877056" y="1261872"/>
            <a:ext cx="1508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1"/>
          <p:cNvSpPr/>
          <p:nvPr/>
        </p:nvSpPr>
        <p:spPr>
          <a:xfrm>
            <a:off x="3877056" y="13533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3877056" y="18562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014216" y="2121408"/>
            <a:ext cx="1234440" cy="18288"/>
          </a:xfrm>
          <a:prstGeom prst="rect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4"/>
          <p:cNvSpPr/>
          <p:nvPr/>
        </p:nvSpPr>
        <p:spPr>
          <a:xfrm>
            <a:off x="3941064" y="217627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plan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950208" y="2724912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compares real state to desired state. The diff exposes the unauthorized change.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41264" y="1261872"/>
            <a:ext cx="1508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0" name="Shape 27"/>
          <p:cNvSpPr/>
          <p:nvPr/>
        </p:nvSpPr>
        <p:spPr>
          <a:xfrm>
            <a:off x="5541264" y="1261872"/>
            <a:ext cx="1508760" cy="45720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8"/>
          <p:cNvSpPr/>
          <p:nvPr/>
        </p:nvSpPr>
        <p:spPr>
          <a:xfrm>
            <a:off x="5541264" y="13533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5541264" y="18562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678424" y="2121408"/>
            <a:ext cx="1234440" cy="18288"/>
          </a:xfrm>
          <a:prstGeom prst="rect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1"/>
          <p:cNvSpPr/>
          <p:nvPr/>
        </p:nvSpPr>
        <p:spPr>
          <a:xfrm>
            <a:off x="5605272" y="217627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notification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14416" y="2724912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or scheduled job fires alert to Slack/PagerDuty: 'Compliance drift detected!'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205472" y="1261872"/>
            <a:ext cx="1508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7" name="Shape 34"/>
          <p:cNvSpPr/>
          <p:nvPr/>
        </p:nvSpPr>
        <p:spPr>
          <a:xfrm>
            <a:off x="7205472" y="1261872"/>
            <a:ext cx="150876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5"/>
          <p:cNvSpPr/>
          <p:nvPr/>
        </p:nvSpPr>
        <p:spPr>
          <a:xfrm>
            <a:off x="7205472" y="13533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9" name="Text 36"/>
          <p:cNvSpPr/>
          <p:nvPr/>
        </p:nvSpPr>
        <p:spPr>
          <a:xfrm>
            <a:off x="7205472" y="18562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342632" y="2121408"/>
            <a:ext cx="1234440" cy="18288"/>
          </a:xfrm>
          <a:prstGeom prst="rect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8"/>
          <p:cNvSpPr/>
          <p:nvPr/>
        </p:nvSpPr>
        <p:spPr>
          <a:xfrm>
            <a:off x="7269480" y="217627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apply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7278624" y="2724912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reverts the rogue change. Infrastructure is back to compliant state. Logged &amp; audited.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85800" y="27432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685800" y="274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HANDS-ON LAB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69494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Overview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85800" y="1463040"/>
            <a:ext cx="7955280" cy="1051560"/>
          </a:xfrm>
          <a:prstGeom prst="rect">
            <a:avLst/>
          </a:prstGeom>
          <a:solidFill>
            <a:srgbClr val="253D8E"/>
          </a:solidFill>
          <a:ln w="635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5"/>
          <p:cNvSpPr/>
          <p:nvPr/>
        </p:nvSpPr>
        <p:spPr>
          <a:xfrm>
            <a:off x="685800" y="1463040"/>
            <a:ext cx="54864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6"/>
          <p:cNvSpPr/>
          <p:nvPr/>
        </p:nvSpPr>
        <p:spPr>
          <a:xfrm>
            <a:off x="822960" y="1627632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22960" y="162763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83080" y="15544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 Module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06640" y="1591056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1A2E6B"/>
          </a:solidFill>
          <a:ln w="635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06640" y="15910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20 min</a:t>
            </a:r>
          </a:p>
        </p:txBody>
      </p:sp>
      <p:sp>
        <p:nvSpPr>
          <p:cNvPr id="14" name="Text 11"/>
          <p:cNvSpPr/>
          <p:nvPr/>
        </p:nvSpPr>
        <p:spPr>
          <a:xfrm>
            <a:off x="1783080" y="193852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Terraform EC2 module with validation blocks. Test that the module correctly rejects insecure configurations.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" y="2651760"/>
            <a:ext cx="7955280" cy="1051560"/>
          </a:xfrm>
          <a:prstGeom prst="rect">
            <a:avLst/>
          </a:prstGeom>
          <a:solidFill>
            <a:srgbClr val="253D8E"/>
          </a:solidFill>
          <a:ln w="635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685800" y="2651760"/>
            <a:ext cx="54864" cy="105156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4"/>
          <p:cNvSpPr/>
          <p:nvPr/>
        </p:nvSpPr>
        <p:spPr>
          <a:xfrm>
            <a:off x="822960" y="2816352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5"/>
          <p:cNvSpPr/>
          <p:nvPr/>
        </p:nvSpPr>
        <p:spPr>
          <a:xfrm>
            <a:off x="822960" y="281635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783080" y="27432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Configuration Drift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06640" y="2779776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1A2E6B"/>
          </a:solidFill>
          <a:ln w="635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8"/>
          <p:cNvSpPr/>
          <p:nvPr/>
        </p:nvSpPr>
        <p:spPr>
          <a:xfrm>
            <a:off x="7406640" y="277977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15 min</a:t>
            </a:r>
          </a:p>
        </p:txBody>
      </p:sp>
      <p:sp>
        <p:nvSpPr>
          <p:cNvPr id="22" name="Text 19"/>
          <p:cNvSpPr/>
          <p:nvPr/>
        </p:nvSpPr>
        <p:spPr>
          <a:xfrm>
            <a:off x="1783080" y="312724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compliant infrastructure. Then manually modify it in the AWS Console and observe the diff with terraform plan.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" y="3840480"/>
            <a:ext cx="7955280" cy="1051560"/>
          </a:xfrm>
          <a:prstGeom prst="rect">
            <a:avLst/>
          </a:prstGeom>
          <a:solidFill>
            <a:srgbClr val="253D8E"/>
          </a:solidFill>
          <a:ln w="635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1"/>
          <p:cNvSpPr/>
          <p:nvPr/>
        </p:nvSpPr>
        <p:spPr>
          <a:xfrm>
            <a:off x="685800" y="3840480"/>
            <a:ext cx="54864" cy="1051560"/>
          </a:xfrm>
          <a:prstGeom prst="rect">
            <a:avLst/>
          </a:prstGeom>
          <a:solidFill>
            <a:srgbClr val="C8E840"/>
          </a:solidFill>
          <a:ln w="12700">
            <a:solidFill>
              <a:srgbClr val="C8E8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Shape 22"/>
          <p:cNvSpPr/>
          <p:nvPr/>
        </p:nvSpPr>
        <p:spPr>
          <a:xfrm>
            <a:off x="822960" y="4005072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C8E840"/>
          </a:solidFill>
          <a:ln w="12700">
            <a:solidFill>
              <a:srgbClr val="C8E8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3"/>
          <p:cNvSpPr/>
          <p:nvPr/>
        </p:nvSpPr>
        <p:spPr>
          <a:xfrm>
            <a:off x="822960" y="400507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6B"/>
                </a:solidFill>
              </a:rPr>
              <a:t>Lab 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783080" y="39319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Recovery Pipeline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406640" y="3968496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1A2E6B"/>
          </a:solidFill>
          <a:ln w="635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6"/>
          <p:cNvSpPr/>
          <p:nvPr/>
        </p:nvSpPr>
        <p:spPr>
          <a:xfrm>
            <a:off x="7406640" y="396849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25 min</a:t>
            </a:r>
          </a:p>
        </p:txBody>
      </p:sp>
      <p:sp>
        <p:nvSpPr>
          <p:cNvPr id="30" name="Text 27"/>
          <p:cNvSpPr/>
          <p:nvPr/>
        </p:nvSpPr>
        <p:spPr>
          <a:xfrm>
            <a:off x="1783080" y="431596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CI/CD job that detects drift on a schedule, sends an alert, and automatically runs terraform apply to restore compliance.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5800" y="491947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AWS account · Terraform CLI installed · basic command-line familiarity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85800" y="274320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685800" y="274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INTRODUCTION  ·  5 MIN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6858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Overview</a:t>
            </a:r>
          </a:p>
        </p:txBody>
      </p:sp>
      <p:sp>
        <p:nvSpPr>
          <p:cNvPr id="7" name="Text 4"/>
          <p:cNvSpPr/>
          <p:nvPr/>
        </p:nvSpPr>
        <p:spPr>
          <a:xfrm>
            <a:off x="685800" y="12618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EC2 instance. Four security angles.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1810512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1024128" y="16276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infrastructure drift  </a:t>
            </a:r>
            <a:r>
              <a:rPr lang="en-US" sz="12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it quietly destroys security posture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432304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1024128" y="23408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Terraform state works  </a:t>
            </a:r>
            <a:r>
              <a:rPr lang="en-US" sz="12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it actually records about your infrastructure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5800" y="3054096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0"/>
          <p:cNvSpPr/>
          <p:nvPr/>
        </p:nvSpPr>
        <p:spPr>
          <a:xfrm>
            <a:off x="1024128" y="29626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problem  </a:t>
            </a:r>
            <a:r>
              <a:rPr lang="en-US" sz="12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will build anything you tell it to — we need guardrails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" y="3675888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2"/>
          <p:cNvSpPr/>
          <p:nvPr/>
        </p:nvSpPr>
        <p:spPr>
          <a:xfrm>
            <a:off x="1024128" y="3584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today  </a:t>
            </a:r>
            <a:r>
              <a:rPr lang="en-US" sz="12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EC2 instance, examined through four different security lenses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89320" y="1572768"/>
            <a:ext cx="2606040" cy="475488"/>
          </a:xfrm>
          <a:prstGeom prst="rect">
            <a:avLst/>
          </a:prstGeom>
          <a:solidFill>
            <a:srgbClr val="253D8E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4"/>
          <p:cNvSpPr/>
          <p:nvPr/>
        </p:nvSpPr>
        <p:spPr>
          <a:xfrm>
            <a:off x="5989320" y="1572768"/>
            <a:ext cx="45720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5"/>
          <p:cNvSpPr/>
          <p:nvPr/>
        </p:nvSpPr>
        <p:spPr>
          <a:xfrm>
            <a:off x="6144768" y="16093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06640" y="16093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89320" y="2139696"/>
            <a:ext cx="2606040" cy="475488"/>
          </a:xfrm>
          <a:prstGeom prst="rect">
            <a:avLst/>
          </a:prstGeom>
          <a:solidFill>
            <a:srgbClr val="253D8E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8"/>
          <p:cNvSpPr/>
          <p:nvPr/>
        </p:nvSpPr>
        <p:spPr>
          <a:xfrm>
            <a:off x="5989320" y="2139696"/>
            <a:ext cx="45720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19"/>
          <p:cNvSpPr/>
          <p:nvPr/>
        </p:nvSpPr>
        <p:spPr>
          <a:xfrm>
            <a:off x="6144768" y="21762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406640" y="21762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89320" y="2706624"/>
            <a:ext cx="2606040" cy="475488"/>
          </a:xfrm>
          <a:prstGeom prst="rect">
            <a:avLst/>
          </a:prstGeom>
          <a:solidFill>
            <a:srgbClr val="253D8E"/>
          </a:solidFill>
          <a:ln w="1016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Shape 22"/>
          <p:cNvSpPr/>
          <p:nvPr/>
        </p:nvSpPr>
        <p:spPr>
          <a:xfrm>
            <a:off x="5989320" y="2706624"/>
            <a:ext cx="45720" cy="47548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3"/>
          <p:cNvSpPr/>
          <p:nvPr/>
        </p:nvSpPr>
        <p:spPr>
          <a:xfrm>
            <a:off x="6144768" y="27432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406640" y="27432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89320" y="3273552"/>
            <a:ext cx="2606040" cy="475488"/>
          </a:xfrm>
          <a:prstGeom prst="rect">
            <a:avLst/>
          </a:prstGeom>
          <a:solidFill>
            <a:srgbClr val="253D8E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6"/>
          <p:cNvSpPr/>
          <p:nvPr/>
        </p:nvSpPr>
        <p:spPr>
          <a:xfrm>
            <a:off x="5989320" y="3273552"/>
            <a:ext cx="457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7"/>
          <p:cNvSpPr/>
          <p:nvPr/>
        </p:nvSpPr>
        <p:spPr>
          <a:xfrm>
            <a:off x="6144768" y="33101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406640" y="33101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989320" y="3840480"/>
            <a:ext cx="2606040" cy="475488"/>
          </a:xfrm>
          <a:prstGeom prst="rect">
            <a:avLst/>
          </a:prstGeom>
          <a:solidFill>
            <a:srgbClr val="253D8E"/>
          </a:solidFill>
          <a:ln w="10160">
            <a:solidFill>
              <a:srgbClr val="C8E8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Shape 30"/>
          <p:cNvSpPr/>
          <p:nvPr/>
        </p:nvSpPr>
        <p:spPr>
          <a:xfrm>
            <a:off x="5989320" y="3840480"/>
            <a:ext cx="45720" cy="475488"/>
          </a:xfrm>
          <a:prstGeom prst="rect">
            <a:avLst/>
          </a:prstGeom>
          <a:solidFill>
            <a:srgbClr val="C8E840"/>
          </a:solidFill>
          <a:ln w="12700">
            <a:solidFill>
              <a:srgbClr val="C8E8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1"/>
          <p:cNvSpPr/>
          <p:nvPr/>
        </p:nvSpPr>
        <p:spPr>
          <a:xfrm>
            <a:off x="6144768" y="38770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406640" y="38770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989320" y="4407408"/>
            <a:ext cx="2606040" cy="475488"/>
          </a:xfrm>
          <a:prstGeom prst="rect">
            <a:avLst/>
          </a:prstGeom>
          <a:solidFill>
            <a:srgbClr val="253D8E"/>
          </a:solidFill>
          <a:ln w="1016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Shape 34"/>
          <p:cNvSpPr/>
          <p:nvPr/>
        </p:nvSpPr>
        <p:spPr>
          <a:xfrm>
            <a:off x="5989320" y="4407408"/>
            <a:ext cx="45720" cy="475488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5"/>
          <p:cNvSpPr/>
          <p:nvPr/>
        </p:nvSpPr>
        <p:spPr>
          <a:xfrm>
            <a:off x="6144768" y="444398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7406640" y="44439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5800" y="493776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AWS account · Terraform CLI · basic command line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18120" y="20116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1"/>
          <p:cNvSpPr/>
          <p:nvPr/>
        </p:nvSpPr>
        <p:spPr>
          <a:xfrm>
            <a:off x="7818120" y="20116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6E"/>
                </a:solidFill>
              </a:rPr>
              <a:t>15 min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19456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— Provision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05840" y="76809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Deploy an EC2 instance the right way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" y="1115568"/>
            <a:ext cx="8503920" cy="27432"/>
          </a:xfrm>
          <a:prstGeom prst="rect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411480" y="129844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411480" y="1298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1261872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VPC &amp; networking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subnet, internet gateway, and route table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" y="1901952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4114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8952" y="1865376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security group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access restricted to your IP only — not 0.0.0.0/0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4"/>
          <p:cNvSpPr/>
          <p:nvPr/>
        </p:nvSpPr>
        <p:spPr>
          <a:xfrm>
            <a:off x="411480" y="2505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" y="2468880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t2.micro EC2 instance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eligible; Terraform provisions it in one command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11480" y="3108960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7"/>
          <p:cNvSpPr/>
          <p:nvPr/>
        </p:nvSpPr>
        <p:spPr>
          <a:xfrm>
            <a:off x="411480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58952" y="3072384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state file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audience what terraform.tfstate records about every resource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712464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0"/>
          <p:cNvSpPr/>
          <p:nvPr/>
        </p:nvSpPr>
        <p:spPr>
          <a:xfrm>
            <a:off x="411480" y="37124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58952" y="3675888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source of truth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state file to the console — they should match exactly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407408"/>
            <a:ext cx="8046720" cy="65836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3"/>
          <p:cNvSpPr/>
          <p:nvPr/>
        </p:nvSpPr>
        <p:spPr>
          <a:xfrm>
            <a:off x="548640" y="4407408"/>
            <a:ext cx="45720" cy="658368"/>
          </a:xfrm>
          <a:prstGeom prst="rect">
            <a:avLst/>
          </a:prstGeom>
          <a:solidFill>
            <a:srgbClr val="C8E840"/>
          </a:solidFill>
          <a:ln w="12700">
            <a:solidFill>
              <a:srgbClr val="C8E8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4"/>
          <p:cNvSpPr/>
          <p:nvPr/>
        </p:nvSpPr>
        <p:spPr>
          <a:xfrm>
            <a:off x="731520" y="44348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›  Terraform state is the source of truth. Everything that deviates from it is drift.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818120" y="20116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1"/>
          <p:cNvSpPr/>
          <p:nvPr/>
        </p:nvSpPr>
        <p:spPr>
          <a:xfrm>
            <a:off x="7818120" y="20116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6E"/>
                </a:solidFill>
              </a:rPr>
              <a:t>20 min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19456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— Drift Detection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05840" y="76809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Catch and revert an unauthorised firewall change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" y="1115568"/>
            <a:ext cx="8503920" cy="27432"/>
          </a:xfrm>
          <a:prstGeom prst="rect">
            <a:avLst/>
          </a:prstGeom>
          <a:solidFill>
            <a:srgbClr val="FFE4E4"/>
          </a:solidFill>
          <a:ln w="12700">
            <a:solidFill>
              <a:srgbClr val="FFE4E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411480" y="1298448"/>
            <a:ext cx="256032" cy="256032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411480" y="1298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1261872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clean baseline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locked to a single IP — the compliant state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" y="1901952"/>
            <a:ext cx="256032" cy="256032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4114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8952" y="1865376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rogue change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SSH to 0.0.0.0/0 directly in the AWS Console, bypassing Terraform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4"/>
          <p:cNvSpPr/>
          <p:nvPr/>
        </p:nvSpPr>
        <p:spPr>
          <a:xfrm>
            <a:off x="411480" y="2505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" y="2468880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plan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detects the rogue rule instantly and shows exactly what changed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11480" y="3108960"/>
            <a:ext cx="256032" cy="256032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7"/>
          <p:cNvSpPr/>
          <p:nvPr/>
        </p:nvSpPr>
        <p:spPr>
          <a:xfrm>
            <a:off x="411480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58952" y="3072384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apply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unauthorised change is reverted automatically — back to compliant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712464"/>
            <a:ext cx="256032" cy="256032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0"/>
          <p:cNvSpPr/>
          <p:nvPr/>
        </p:nvSpPr>
        <p:spPr>
          <a:xfrm>
            <a:off x="411480" y="37124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58952" y="3675888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automated drift check script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same check runs on a schedule in Lab 4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407408"/>
            <a:ext cx="8046720" cy="65836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3"/>
          <p:cNvSpPr/>
          <p:nvPr/>
        </p:nvSpPr>
        <p:spPr>
          <a:xfrm>
            <a:off x="548640" y="4407408"/>
            <a:ext cx="45720" cy="658368"/>
          </a:xfrm>
          <a:prstGeom prst="rect">
            <a:avLst/>
          </a:prstGeom>
          <a:solidFill>
            <a:srgbClr val="C8E840"/>
          </a:solidFill>
          <a:ln w="12700">
            <a:solidFill>
              <a:srgbClr val="C8E8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4"/>
          <p:cNvSpPr/>
          <p:nvPr/>
        </p:nvSpPr>
        <p:spPr>
          <a:xfrm>
            <a:off x="731520" y="44348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›  terraform plan is your drift detector. Any manual change is temporary.</a:t>
            </a:r>
            <a:endParaRPr lang="en-US" sz="1200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18120" y="20116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1"/>
          <p:cNvSpPr/>
          <p:nvPr/>
        </p:nvSpPr>
        <p:spPr>
          <a:xfrm>
            <a:off x="7818120" y="20116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6E"/>
                </a:solidFill>
              </a:rPr>
              <a:t>20 min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19456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— Policy as Code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05840" y="76809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Block a non-compliant configuration before it ever deploys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" y="1115568"/>
            <a:ext cx="8503920" cy="2743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411480" y="1298448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411480" y="1298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1261872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same config with 0.0.0.0/0 hardcoded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 config exists in code, not just the console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" y="1901952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4114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8952" y="1865376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validate and terraform plan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pass — Terraform has no built-in opinion on this rule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4"/>
          <p:cNvSpPr/>
          <p:nvPr/>
        </p:nvSpPr>
        <p:spPr>
          <a:xfrm>
            <a:off x="411480" y="2505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" y="2468880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conftest test against the plan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fails, the deploy is blocked before any resource is touched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11480" y="3108960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7"/>
          <p:cNvSpPr/>
          <p:nvPr/>
        </p:nvSpPr>
        <p:spPr>
          <a:xfrm>
            <a:off x="411480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58952" y="3072384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OPA policy rule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exactly what condition caught the violation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712464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0"/>
          <p:cNvSpPr/>
          <p:nvPr/>
        </p:nvSpPr>
        <p:spPr>
          <a:xfrm>
            <a:off x="411480" y="37124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58952" y="3675888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violation and re-run conftest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passes; explain how this check sits at PR review time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407408"/>
            <a:ext cx="8046720" cy="65836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3"/>
          <p:cNvSpPr/>
          <p:nvPr/>
        </p:nvSpPr>
        <p:spPr>
          <a:xfrm>
            <a:off x="548640" y="4407408"/>
            <a:ext cx="45720" cy="658368"/>
          </a:xfrm>
          <a:prstGeom prst="rect">
            <a:avLst/>
          </a:prstGeom>
          <a:solidFill>
            <a:srgbClr val="C8E840"/>
          </a:solidFill>
          <a:ln w="12700">
            <a:solidFill>
              <a:srgbClr val="C8E8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4"/>
          <p:cNvSpPr/>
          <p:nvPr/>
        </p:nvSpPr>
        <p:spPr>
          <a:xfrm>
            <a:off x="731520" y="44348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›  Policy as code shifts compliance left. Bad config is caught at PR time, not after an incident.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18120" y="20116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1"/>
          <p:cNvSpPr/>
          <p:nvPr/>
        </p:nvSpPr>
        <p:spPr>
          <a:xfrm>
            <a:off x="7818120" y="20116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6E"/>
                </a:solidFill>
              </a:rPr>
              <a:t>15 min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19456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CI/CD Pipeline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05840" y="76809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Automate everything so no check relies on a human remembering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" y="1115568"/>
            <a:ext cx="8503920" cy="27432"/>
          </a:xfrm>
          <a:prstGeom prst="rect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411480" y="129844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411480" y="1298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1261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GitHub Actions workflow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pipeline structure from PR to merge to scheduled run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" y="212140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411480" y="2121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8952" y="20848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PR: plan → OPA check → block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violation in policy means the PR cannot merge — no exceptions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1480" y="294436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4"/>
          <p:cNvSpPr/>
          <p:nvPr/>
        </p:nvSpPr>
        <p:spPr>
          <a:xfrm>
            <a:off x="411480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" y="29077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merge to main: terraform apply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required reviewer approval before any infrastructure changes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754880" y="129844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7"/>
          <p:cNvSpPr/>
          <p:nvPr/>
        </p:nvSpPr>
        <p:spPr>
          <a:xfrm>
            <a:off x="4754880" y="1298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102352" y="12618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 hours: scheduled drift check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terraform plan and opens a GitHub Issue if drift is detected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754880" y="212140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0"/>
          <p:cNvSpPr/>
          <p:nvPr/>
        </p:nvSpPr>
        <p:spPr>
          <a:xfrm>
            <a:off x="4754880" y="2121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102352" y="2084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OIDC-based AWS authentication  </a:t>
            </a: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keys stored in CI — credentials are short-lived and scoped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11480" y="3703320"/>
            <a:ext cx="8092440" cy="548640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3"/>
          <p:cNvSpPr/>
          <p:nvPr/>
        </p:nvSpPr>
        <p:spPr>
          <a:xfrm>
            <a:off x="566928" y="37947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253D8E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4"/>
          <p:cNvSpPr/>
          <p:nvPr/>
        </p:nvSpPr>
        <p:spPr>
          <a:xfrm>
            <a:off x="566928" y="3794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opened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938528" y="384048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</a:rPr>
              <a:t>→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176272" y="37947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253D8E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7"/>
          <p:cNvSpPr/>
          <p:nvPr/>
        </p:nvSpPr>
        <p:spPr>
          <a:xfrm>
            <a:off x="2176272" y="3794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547872" y="384048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785616" y="37947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253D8E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0"/>
          <p:cNvSpPr/>
          <p:nvPr/>
        </p:nvSpPr>
        <p:spPr>
          <a:xfrm>
            <a:off x="3785616" y="3794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policy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157216" y="384048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</a:rPr>
              <a:t>→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394960" y="37947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253D8E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3"/>
          <p:cNvSpPr/>
          <p:nvPr/>
        </p:nvSpPr>
        <p:spPr>
          <a:xfrm>
            <a:off x="5394960" y="3794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→ apply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766560" y="384048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</a:rPr>
              <a:t>→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004304" y="37947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253D8E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6"/>
          <p:cNvSpPr/>
          <p:nvPr/>
        </p:nvSpPr>
        <p:spPr>
          <a:xfrm>
            <a:off x="7004304" y="3794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check (6h)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48640" y="4407408"/>
            <a:ext cx="8046720" cy="65836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Shape 38"/>
          <p:cNvSpPr/>
          <p:nvPr/>
        </p:nvSpPr>
        <p:spPr>
          <a:xfrm>
            <a:off x="548640" y="4407408"/>
            <a:ext cx="45720" cy="658368"/>
          </a:xfrm>
          <a:prstGeom prst="rect">
            <a:avLst/>
          </a:prstGeom>
          <a:solidFill>
            <a:srgbClr val="C8E840"/>
          </a:solidFill>
          <a:ln w="12700">
            <a:solidFill>
              <a:srgbClr val="C8E8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39"/>
          <p:cNvSpPr/>
          <p:nvPr/>
        </p:nvSpPr>
        <p:spPr>
          <a:xfrm>
            <a:off x="731520" y="44348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›  Compliance becomes a property of the pipeline, not a manual step.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85800" y="274320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685800" y="274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CLOSING  ·  5 MIN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6858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 — and Why It Matters</a:t>
            </a:r>
          </a:p>
        </p:txBody>
      </p:sp>
      <p:sp>
        <p:nvSpPr>
          <p:cNvPr id="7" name="Text 4"/>
          <p:cNvSpPr/>
          <p:nvPr/>
        </p:nvSpPr>
        <p:spPr>
          <a:xfrm>
            <a:off x="685800" y="13898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failure modes this workshop addresses: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1801368"/>
            <a:ext cx="7955280" cy="658368"/>
          </a:xfrm>
          <a:prstGeom prst="rect">
            <a:avLst/>
          </a:prstGeom>
          <a:solidFill>
            <a:srgbClr val="253D8E"/>
          </a:solidFill>
          <a:ln w="1016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6"/>
          <p:cNvSpPr/>
          <p:nvPr/>
        </p:nvSpPr>
        <p:spPr>
          <a:xfrm>
            <a:off x="804672" y="1947672"/>
            <a:ext cx="365760" cy="365760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04672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1856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changes bypassing the pipeline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80160" y="2130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— caught by terraform plan on a schedule and auto-reverted by terraform apply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" y="2551176"/>
            <a:ext cx="7955280" cy="658368"/>
          </a:xfrm>
          <a:prstGeom prst="rect">
            <a:avLst/>
          </a:prstGeom>
          <a:solidFill>
            <a:srgbClr val="253D8E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1"/>
          <p:cNvSpPr/>
          <p:nvPr/>
        </p:nvSpPr>
        <p:spPr>
          <a:xfrm>
            <a:off x="804672" y="269748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2"/>
          <p:cNvSpPr/>
          <p:nvPr/>
        </p:nvSpPr>
        <p:spPr>
          <a:xfrm>
            <a:off x="804672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80160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config reaching production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2880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 — OPA blocks the deploy at PR time, before any resource is touched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" y="3300984"/>
            <a:ext cx="7955280" cy="658368"/>
          </a:xfrm>
          <a:prstGeom prst="rect">
            <a:avLst/>
          </a:prstGeom>
          <a:solidFill>
            <a:srgbClr val="253D8E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6"/>
          <p:cNvSpPr/>
          <p:nvPr/>
        </p:nvSpPr>
        <p:spPr>
          <a:xfrm>
            <a:off x="804672" y="3447288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7"/>
          <p:cNvSpPr/>
          <p:nvPr/>
        </p:nvSpPr>
        <p:spPr>
          <a:xfrm>
            <a:off x="804672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80160" y="3355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security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80160" y="3630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and sensitive data in the state file — scope, encrypt, and access-control your backend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" y="4059936"/>
            <a:ext cx="795528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1"/>
          <p:cNvSpPr/>
          <p:nvPr/>
        </p:nvSpPr>
        <p:spPr>
          <a:xfrm>
            <a:off x="868680" y="4087368"/>
            <a:ext cx="7589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is not just an infrastructure tool — it's an enforcement mechanism. The state file is the contract between your code and your cloud.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4663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132320" y="201168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D0F2E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7132320" y="201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6E"/>
                </a:solidFill>
              </a:rPr>
              <a:t>TAKEAWAYS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1040" y="4572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8503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is the ultimate Source of Truth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1325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 shared responsibility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43000" y="16184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makes every developer a security stakeholder. It's not someone else's problem.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0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3000" y="2057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enforces, not just provisions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43000" y="23500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validation blocks, modules, and policies to make insecure deployments impossible by design.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4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43000" y="2788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protect what you don't track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43000" y="3081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drift is silent and deadly. terraform plan is your continuous compliance scanner.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8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43000" y="3520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recovery loop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143000" y="3813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Alert → Remediate. A pipeline that restores compliance is more reliable than a human process.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2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43000" y="4251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creates an audit trail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43000" y="45445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infrastructure is a Git commit. Who changed what, when, and why — always answerable.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253D8E"/>
          </a:solidFill>
          <a:ln w="12700">
            <a:solidFill>
              <a:srgbClr val="253D8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10312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7432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drift, Terraform, and keeping your infra honest.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1920240"/>
            <a:ext cx="3200400" cy="36576"/>
          </a:xfrm>
          <a:prstGeom prst="rect">
            <a:avLst/>
          </a:prstGeom>
          <a:solidFill>
            <a:srgbClr val="C8E840"/>
          </a:solidFill>
          <a:ln w="12700">
            <a:solidFill>
              <a:srgbClr val="C8E8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5"/>
          <p:cNvSpPr/>
          <p:nvPr/>
        </p:nvSpPr>
        <p:spPr>
          <a:xfrm>
            <a:off x="685800" y="20299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Further Reading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532888"/>
            <a:ext cx="237744" cy="2377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1042416" y="24871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Documentation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42416" y="27614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developer.hashicorp.com/terraform/docs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026664"/>
            <a:ext cx="237744" cy="2377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0"/>
          <p:cNvSpPr/>
          <p:nvPr/>
        </p:nvSpPr>
        <p:spPr>
          <a:xfrm>
            <a:off x="1042416" y="29809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Validation Blocks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42416" y="32552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developer.hashicorp.com/terraform/language/values/variables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3520440"/>
            <a:ext cx="237744" cy="2377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3"/>
          <p:cNvSpPr/>
          <p:nvPr/>
        </p:nvSpPr>
        <p:spPr>
          <a:xfrm>
            <a:off x="1042416" y="3474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IaC Security Cheat Sheet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42416" y="3749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cheatsheetseries.owasp.org/cheatsheets/Infrastructure_as_Code_Security_Cheatsheet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" y="4014216"/>
            <a:ext cx="237744" cy="2377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6"/>
          <p:cNvSpPr/>
          <p:nvPr/>
        </p:nvSpPr>
        <p:spPr>
          <a:xfrm>
            <a:off x="1042416" y="39684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Manifesto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42416" y="42428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devsecops.org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5800" y="4507992"/>
            <a:ext cx="237744" cy="2377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19"/>
          <p:cNvSpPr/>
          <p:nvPr/>
        </p:nvSpPr>
        <p:spPr>
          <a:xfrm>
            <a:off x="1042416" y="44622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2023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42416" y="4736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ibm.com/reports/data-breach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1561</TotalTime>
  <Words>2076</Words>
  <Application>Microsoft Office PowerPoint</Application>
  <PresentationFormat>On-screen Show (16:9)</PresentationFormat>
  <Paragraphs>356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DevSecOps Angle: State Management and Compliance with Terraform</dc:title>
  <dc:subject>PptxGenJS Presentation</dc:subject>
  <dc:creator>PptxGenJS</dc:creator>
  <cp:lastModifiedBy>Adeola Adeniji</cp:lastModifiedBy>
  <cp:revision>2</cp:revision>
  <dcterms:created xsi:type="dcterms:W3CDTF">2026-05-14T10:23:50Z</dcterms:created>
  <dcterms:modified xsi:type="dcterms:W3CDTF">2026-05-15T12:28:55Z</dcterms:modified>
</cp:coreProperties>
</file>